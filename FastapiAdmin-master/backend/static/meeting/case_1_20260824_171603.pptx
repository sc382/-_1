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A5E9"/>
                </a:solidFill>
                <a:latin typeface="微软雅黑"/>
              </a:rPr>
              <a:t>智慧胸痛中心 · 典型病例讨论会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1097280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微软雅黑"/>
              </a:rPr>
              <a:t>王小明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BFD3F2"/>
                </a:solidFill>
                <a:latin typeface="微软雅黑"/>
              </a:rPr>
              <a:t>病例编号：CASE202608240005   ｜   诊断：STEMI   ｜   来院方式：120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931920"/>
            <a:ext cx="10515600" cy="18288"/>
          </a:xfrm>
          <a:prstGeom prst="rect">
            <a:avLst/>
          </a:prstGeom>
          <a:solidFill>
            <a:srgbClr val="3B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4206240"/>
            <a:ext cx="10515600" cy="868680"/>
          </a:xfrm>
          <a:prstGeom prst="roundRect">
            <a:avLst/>
          </a:prstGeom>
          <a:solidFill>
            <a:srgbClr val="16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15968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时间数据不足，无法评估核心指标，建议作为典型病例分享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BFD3F2"/>
                </a:solidFill>
                <a:latin typeface="微软雅黑"/>
              </a:rPr>
              <a:t>演示医院   ｜   2026年08月24日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777240" cy="7772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1732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病例基本信息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</a:rPr>
              <a:t>患者画像与关键摘要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777240" cy="77724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77439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救治时间轴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889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</a:rPr>
              <a:t>全流程关键时间节点与间隔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91839"/>
            <a:ext cx="777240" cy="7772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91839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37559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质控时间指标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49039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</a:rPr>
              <a:t>核心再灌注时间达标分析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51959"/>
            <a:ext cx="777240" cy="77724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51959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97679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详细填报数据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09159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</a:rPr>
              <a:t>各阶段表单填报明细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212079"/>
            <a:ext cx="777240" cy="7772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12079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257799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问题与改进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69279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</a:rPr>
              <a:t>缺失项与流程优化建议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一  病例基本信息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64008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"/>
                <a:gridCol w="3657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患者姓名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王小明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性别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男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年龄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58 岁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联系电话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13812345678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来院方式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诊断类型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STEMI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病例编号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CASE202608240005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病例状态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已通过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提交医生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医生一号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371600"/>
            <a:ext cx="4023360" cy="46634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481328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微软雅黑"/>
              </a:rPr>
              <a:t>关键摘要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2103120"/>
            <a:ext cx="356616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2212848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</a:rPr>
              <a:t>出院转归：-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</a:rPr>
              <a:t>出院诊断：-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二  救治时间轴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Rectangle 5"/>
          <p:cNvSpPr/>
          <p:nvPr/>
        </p:nvSpPr>
        <p:spPr>
          <a:xfrm>
            <a:off x="1220724" y="1417320"/>
            <a:ext cx="27432" cy="451713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1298448"/>
            <a:ext cx="237744" cy="23774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234440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发病时间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234440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2026-08-20 08:30</a:t>
            </a:r>
          </a:p>
        </p:txBody>
      </p:sp>
      <p:sp>
        <p:nvSpPr>
          <p:cNvPr id="10" name="Oval 9"/>
          <p:cNvSpPr/>
          <p:nvPr/>
        </p:nvSpPr>
        <p:spPr>
          <a:xfrm>
            <a:off x="1115568" y="1773936"/>
            <a:ext cx="237744" cy="23774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709928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呼救时间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09928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—</a:t>
            </a:r>
          </a:p>
        </p:txBody>
      </p:sp>
      <p:sp>
        <p:nvSpPr>
          <p:cNvPr id="13" name="Oval 12"/>
          <p:cNvSpPr/>
          <p:nvPr/>
        </p:nvSpPr>
        <p:spPr>
          <a:xfrm>
            <a:off x="1115568" y="2249424"/>
            <a:ext cx="237744" cy="23774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2185415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到达大门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185415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—</a:t>
            </a:r>
          </a:p>
        </p:txBody>
      </p:sp>
      <p:sp>
        <p:nvSpPr>
          <p:cNvPr id="16" name="Oval 15"/>
          <p:cNvSpPr/>
          <p:nvPr/>
        </p:nvSpPr>
        <p:spPr>
          <a:xfrm>
            <a:off x="1115568" y="2724912"/>
            <a:ext cx="237744" cy="23774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2660904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首次医疗接触 FMC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660904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—</a:t>
            </a:r>
          </a:p>
        </p:txBody>
      </p:sp>
      <p:sp>
        <p:nvSpPr>
          <p:cNvPr id="19" name="Oval 18"/>
          <p:cNvSpPr/>
          <p:nvPr/>
        </p:nvSpPr>
        <p:spPr>
          <a:xfrm>
            <a:off x="1115568" y="3200400"/>
            <a:ext cx="237744" cy="23774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3136391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首份心电图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136391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—</a:t>
            </a:r>
          </a:p>
        </p:txBody>
      </p:sp>
      <p:sp>
        <p:nvSpPr>
          <p:cNvPr id="22" name="Oval 21"/>
          <p:cNvSpPr/>
          <p:nvPr/>
        </p:nvSpPr>
        <p:spPr>
          <a:xfrm>
            <a:off x="1115568" y="3675888"/>
            <a:ext cx="237744" cy="23774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3611880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肌钙蛋白抽血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611880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—</a:t>
            </a:r>
          </a:p>
        </p:txBody>
      </p:sp>
      <p:sp>
        <p:nvSpPr>
          <p:cNvPr id="25" name="Oval 24"/>
          <p:cNvSpPr/>
          <p:nvPr/>
        </p:nvSpPr>
        <p:spPr>
          <a:xfrm>
            <a:off x="1115568" y="4151376"/>
            <a:ext cx="237744" cy="23774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4087368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导管室激活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087368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—</a:t>
            </a:r>
          </a:p>
        </p:txBody>
      </p:sp>
      <p:sp>
        <p:nvSpPr>
          <p:cNvPr id="28" name="Oval 27"/>
          <p:cNvSpPr/>
          <p:nvPr/>
        </p:nvSpPr>
        <p:spPr>
          <a:xfrm>
            <a:off x="1115568" y="4626864"/>
            <a:ext cx="237744" cy="23774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08760" y="4562856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穿刺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562856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—</a:t>
            </a:r>
          </a:p>
        </p:txBody>
      </p:sp>
      <p:sp>
        <p:nvSpPr>
          <p:cNvPr id="31" name="Oval 30"/>
          <p:cNvSpPr/>
          <p:nvPr/>
        </p:nvSpPr>
        <p:spPr>
          <a:xfrm>
            <a:off x="1115568" y="5102352"/>
            <a:ext cx="237744" cy="23774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08760" y="5038344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球囊开通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5038344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—</a:t>
            </a:r>
          </a:p>
        </p:txBody>
      </p:sp>
      <p:sp>
        <p:nvSpPr>
          <p:cNvPr id="34" name="Oval 33"/>
          <p:cNvSpPr/>
          <p:nvPr/>
        </p:nvSpPr>
        <p:spPr>
          <a:xfrm>
            <a:off x="1115568" y="5577840"/>
            <a:ext cx="237744" cy="23774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08760" y="5513831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手术结束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5513831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注：绿色圆点=已填报时间节点，灰色=缺失；Δ 为相邻节点间隔（分钟，绿≤30 / 蓝≤90 / 红&gt;90）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三  质控时间指标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850392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/>
                <a:gridCol w="164592"/>
                <a:gridCol w="164592"/>
                <a:gridCol w="1371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耗时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标准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发病-首次医疗接触(S2FMC)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6B728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首次接触-首份心电图(FMC2ECG)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6B728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入门-球囊开通(D2W)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6B728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首次接触-球囊开通(FMC2W)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6B728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入门-肌钙蛋白(D2N)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6B728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核心指标达标率：0/0　｜　标准：FMC2ECG ≤10min ｜ D2W ≤90min ｜ FMC2W ≤120min ｜ D2N ≤20min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四  详细填报数据 · 基本信息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本阶段共 3 项填报内容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804672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"/>
                <a:gridCol w="54864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性别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男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来院方式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诊断类型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STEMI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四  详细填报数据 · 院前急救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本阶段共 1 项填报内容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804672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"/>
                <a:gridCol w="54864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发病时间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2026-08-20 08:30:00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四  详细填报数据 · 急诊分诊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本阶段共 1 项填报内容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804672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"/>
                <a:gridCol w="54864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住院号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ZY20260821001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四  详细填报数据 · 患者转归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本阶段共 1 项填报内容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804672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"/>
                <a:gridCol w="54864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出院日期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2026-08-21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五  问题与改进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微软雅黑"/>
              </a:rPr>
              <a:t>一、缺失必填字段（1 项）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28016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患者姓名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微软雅黑"/>
              </a:rPr>
              <a:t>二、流程优化建议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59669"/>
                </a:solidFill>
                <a:latin typeface="微软雅黑"/>
              </a:rPr>
              <a:t>✅ 各项时间指标均达标，建议作为典型病例在讨论会中分享经验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讨论要点：再灌注策略选择 · 时间节点管理 · 双抗/抗凝/他汀规范化 · 出院随访依从性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</a:rPr>
              <a:t>持续改进 · 服务患者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FD3F2"/>
                </a:solidFill>
                <a:latin typeface="微软雅黑"/>
              </a:rPr>
              <a:t>智慧胸痛中心 · 演示医院 · 2026年08月24日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