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1874519"/>
            <a:ext cx="1097280" cy="8229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05156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0EA5E9"/>
                </a:solidFill>
                <a:latin typeface="微软雅黑"/>
              </a:rPr>
              <a:t>智慧胸痛中心 · 持续质量改进会议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148840"/>
            <a:ext cx="105156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>
                <a:solidFill>
                  <a:srgbClr val="FFFFFF"/>
                </a:solidFill>
                <a:latin typeface="微软雅黑"/>
              </a:rPr>
              <a:t>演示医院</a:t>
            </a:r>
          </a:p>
          <a:p>
            <a:pPr algn="l">
              <a:lnSpc>
                <a:spcPct val="115000"/>
              </a:lnSpc>
            </a:pPr>
            <a:r>
              <a:rPr sz="4400" b="1">
                <a:solidFill>
                  <a:srgbClr val="FFFFFF"/>
                </a:solidFill>
                <a:latin typeface="微软雅黑"/>
              </a:rPr>
              <a:t>质量分析会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3977639"/>
            <a:ext cx="7315200" cy="27432"/>
          </a:xfrm>
          <a:prstGeom prst="rect">
            <a:avLst/>
          </a:prstGeom>
          <a:solidFill>
            <a:srgbClr val="3B5B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425196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BFD3F2"/>
                </a:solidFill>
                <a:latin typeface="微软雅黑"/>
              </a:rPr>
              <a:t>统计区间：全部 至 至今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70916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BFD3F2"/>
                </a:solidFill>
                <a:latin typeface="微软雅黑"/>
              </a:rPr>
              <a:t>生成时间：2026年08月24日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7315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微软雅黑"/>
              </a:rPr>
              <a:t>目录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1554480"/>
            <a:ext cx="685800" cy="685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554480"/>
            <a:ext cx="6858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8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03120" y="1664207"/>
            <a:ext cx="82296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F2937"/>
                </a:solidFill>
                <a:latin typeface="微软雅黑"/>
              </a:rPr>
              <a:t>一、本院指标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7280" y="2697480"/>
            <a:ext cx="685800" cy="6858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697480"/>
            <a:ext cx="6858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8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03120" y="2807208"/>
            <a:ext cx="82296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F2937"/>
                </a:solidFill>
                <a:latin typeface="微软雅黑"/>
              </a:rPr>
              <a:t>二、质控时间指标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97280" y="3840480"/>
            <a:ext cx="685800" cy="685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3840480"/>
            <a:ext cx="6858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8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03120" y="3950208"/>
            <a:ext cx="82296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F2937"/>
                </a:solidFill>
                <a:latin typeface="微软雅黑"/>
              </a:rPr>
              <a:t>三、问题病历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97280" y="4983480"/>
            <a:ext cx="685800" cy="6858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4983480"/>
            <a:ext cx="6858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800" b="1">
                <a:solidFill>
                  <a:srgbClr val="FFFFFF"/>
                </a:solidFill>
                <a:latin typeface="微软雅黑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03120" y="5093208"/>
            <a:ext cx="82296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F2937"/>
                </a:solidFill>
                <a:latin typeface="微软雅黑"/>
              </a:rPr>
              <a:t>四、改进意见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100584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微软雅黑"/>
              </a:rPr>
              <a:t>一  本院指标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6B7280"/>
                </a:solidFill>
                <a:latin typeface="微软雅黑"/>
              </a:rPr>
              <a:t>智慧胸痛中心 · 演示医院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2563EB"/>
                </a:solidFill>
                <a:latin typeface="微软雅黑"/>
              </a:rPr>
              <a:t>统计病例总数：9 例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2103120"/>
          <a:ext cx="5120639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72384"/>
                <a:gridCol w="2048255"/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</a:rPr>
                        <a:t>病例状态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</a:rPr>
                        <a:t>数量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  <a:latin typeface="微软雅黑"/>
                        </a:rPr>
                        <a:t>填报中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  <a:latin typeface="微软雅黑"/>
                        </a:rPr>
                        <a:t>5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  <a:latin typeface="微软雅黑"/>
                        </a:rPr>
                        <a:t>待审核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  <a:latin typeface="微软雅黑"/>
                        </a:rP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  <a:latin typeface="微软雅黑"/>
                        </a:rPr>
                        <a:t>已通过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  <a:latin typeface="微软雅黑"/>
                        </a:rPr>
                        <a:t>1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  <a:latin typeface="微软雅黑"/>
                        </a:rPr>
                        <a:t>驳回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  <a:latin typeface="微软雅黑"/>
                        </a:rP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309360" y="1965960"/>
            <a:ext cx="5029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F2937"/>
                </a:solidFill>
                <a:latin typeface="微软雅黑"/>
              </a:rPr>
              <a:t>诊断分布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309360" y="2514600"/>
          <a:ext cx="5120639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72384"/>
                <a:gridCol w="2048255"/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</a:rPr>
                        <a:t>诊断类型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</a:rPr>
                        <a:t>数量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  <a:latin typeface="微软雅黑"/>
                        </a:rPr>
                        <a:t>STEMI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  <a:latin typeface="微软雅黑"/>
                        </a:rPr>
                        <a:t>1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  <a:latin typeface="微软雅黑"/>
                        </a:rPr>
                        <a:t>主动脉夹层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  <a:latin typeface="微软雅黑"/>
                        </a:rPr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  <a:latin typeface="微软雅黑"/>
                        </a:rPr>
                        <a:t>UA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  <a:latin typeface="微软雅黑"/>
                        </a:rPr>
                        <a:t>1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100584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微软雅黑"/>
              </a:rPr>
              <a:t>二  质控时间指标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6B7280"/>
                </a:solidFill>
                <a:latin typeface="微软雅黑"/>
              </a:rPr>
              <a:t>智慧胸痛中心 · 演示医院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463040"/>
          <a:ext cx="1069848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84164"/>
                <a:gridCol w="2674620"/>
                <a:gridCol w="2139696"/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</a:rPr>
                        <a:t>指标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</a:rPr>
                        <a:t>达标例数/总数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</a:rPr>
                        <a:t>达标率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  <a:latin typeface="微软雅黑"/>
                        </a:rPr>
                        <a:t>发病-首次医疗接触(S2FMC)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  <a:latin typeface="微软雅黑"/>
                        </a:rPr>
                        <a:t>1/1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  <a:latin typeface="微软雅黑"/>
                        </a:rPr>
                        <a:t>100.0%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  <a:latin typeface="微软雅黑"/>
                        </a:rPr>
                        <a:t>首次接触-首份心电图(FMC2ECG)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  <a:latin typeface="微软雅黑"/>
                        </a:rPr>
                        <a:t>1/1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  <a:latin typeface="微软雅黑"/>
                        </a:rPr>
                        <a:t>100.0%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  <a:latin typeface="微软雅黑"/>
                        </a:rPr>
                        <a:t>入门-球囊开通(D2W)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  <a:latin typeface="微软雅黑"/>
                        </a:rPr>
                        <a:t>1/1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  <a:latin typeface="微软雅黑"/>
                        </a:rPr>
                        <a:t>100.0%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  <a:latin typeface="微软雅黑"/>
                        </a:rPr>
                        <a:t>首次接触-球囊开通(FMC2W)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  <a:latin typeface="微软雅黑"/>
                        </a:rPr>
                        <a:t>1/1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  <a:latin typeface="微软雅黑"/>
                        </a:rPr>
                        <a:t>100.0%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  <a:latin typeface="微软雅黑"/>
                        </a:rPr>
                        <a:t>入门-肌钙蛋白(D2N)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  <a:latin typeface="微软雅黑"/>
                        </a:rPr>
                        <a:t>1/1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  <a:latin typeface="微软雅黑"/>
                        </a:rPr>
                        <a:t>100.0%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1520" y="548640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6B7280"/>
                </a:solidFill>
                <a:latin typeface="微软雅黑"/>
              </a:rPr>
              <a:t>标准：FMC2ECG ≤10min ｜ D2W ≤90min ｜ FMC2W ≤120min ｜ D2N ≤20min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100584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微软雅黑"/>
              </a:rPr>
              <a:t>三  问题病历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6B7280"/>
                </a:solidFill>
                <a:latin typeface="微软雅黑"/>
              </a:rPr>
              <a:t>智慧胸痛中心 · 演示医院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463040"/>
          <a:ext cx="1069848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4468"/>
                <a:gridCol w="2139696"/>
                <a:gridCol w="2674620"/>
                <a:gridCol w="2139696"/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</a:rPr>
                        <a:t>病例编号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</a:rPr>
                        <a:t>患者姓名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</a:rPr>
                        <a:t>诊断类型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</a:rPr>
                        <a:t>状态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  <a:latin typeface="微软雅黑"/>
                        </a:rPr>
                        <a:t>-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  <a:latin typeface="微软雅黑"/>
                        </a:rPr>
                        <a:t>李小红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  <a:latin typeface="微软雅黑"/>
                        </a:rPr>
                        <a:t>-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  <a:latin typeface="微软雅黑"/>
                        </a:rPr>
                        <a:t>驳回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  <a:latin typeface="微软雅黑"/>
                        </a:rPr>
                        <a:t>C202608202229549291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  <a:latin typeface="微软雅黑"/>
                        </a:rPr>
                        <a:t>测试病例编号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  <a:latin typeface="微软雅黑"/>
                        </a:rPr>
                        <a:t>-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  <a:latin typeface="微软雅黑"/>
                        </a:rPr>
                        <a:t>驳回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  <a:latin typeface="微软雅黑"/>
                        </a:rPr>
                        <a:t>CASE202608240001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  <a:latin typeface="微软雅黑"/>
                        </a:rPr>
                        <a:t>测试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  <a:latin typeface="微软雅黑"/>
                        </a:rPr>
                        <a:t>UA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  <a:latin typeface="微软雅黑"/>
                        </a:rPr>
                        <a:t>待审核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100584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微软雅黑"/>
              </a:rPr>
              <a:t>四  改进意见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6B7280"/>
                </a:solidFill>
                <a:latin typeface="微软雅黑"/>
              </a:rPr>
              <a:t>智慧胸痛中心 · 演示医院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627632"/>
            <a:ext cx="320040" cy="32004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1508760"/>
            <a:ext cx="98755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>
                <a:solidFill>
                  <a:srgbClr val="1F2937"/>
                </a:solidFill>
                <a:latin typeface="微软雅黑"/>
              </a:rPr>
              <a:t>1. 各时间指标整体良好，继续保持并完善数据填报完整率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74320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200" b="1">
                <a:solidFill>
                  <a:srgbClr val="FFFFFF"/>
                </a:solidFill>
                <a:latin typeface="微软雅黑"/>
              </a:rPr>
              <a:t>持续改进 · 服务患者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8404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>
                <a:solidFill>
                  <a:srgbClr val="BFD3F2"/>
                </a:solidFill>
                <a:latin typeface="微软雅黑"/>
              </a:rPr>
              <a:t>智慧胸痛中心 · 演示医院 · 2026年08月24日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