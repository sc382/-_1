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9144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EA5E9"/>
                </a:solidFill>
                <a:latin typeface="微软雅黑"/>
              </a:rPr>
              <a:t>智慧胸痛中心 · 典型病例讨论会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554480"/>
            <a:ext cx="1097280" cy="82296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>
                <a:solidFill>
                  <a:srgbClr val="FFFFFF"/>
                </a:solidFill>
                <a:latin typeface="微软雅黑"/>
              </a:rPr>
              <a:t>王小明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2004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BFD3F2"/>
                </a:solidFill>
                <a:latin typeface="微软雅黑"/>
              </a:rPr>
              <a:t>病例编号：CASE202608240005   ｜   诊断：STEMI   ｜   来院方式：120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3931920"/>
            <a:ext cx="10515600" cy="18288"/>
          </a:xfrm>
          <a:prstGeom prst="rect">
            <a:avLst/>
          </a:prstGeom>
          <a:solidFill>
            <a:srgbClr val="3B5B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2960" y="4206240"/>
            <a:ext cx="10515600" cy="868680"/>
          </a:xfrm>
          <a:prstGeom prst="roundRect">
            <a:avLst/>
          </a:prstGeom>
          <a:solidFill>
            <a:srgbClr val="162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4315968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时间数据不足，无法评估核心指标，建议作为典型病例分享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39496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BFD3F2"/>
                </a:solidFill>
                <a:latin typeface="微软雅黑"/>
              </a:rPr>
              <a:t>演示医院   ｜   2026年08月24日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目录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371600"/>
            <a:ext cx="777240" cy="77724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777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微软雅黑"/>
              </a:rPr>
              <a:t>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417320"/>
            <a:ext cx="9144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F2937"/>
                </a:solidFill>
                <a:latin typeface="微软雅黑"/>
              </a:rPr>
              <a:t>病例基本信息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82880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B7280"/>
                </a:solidFill>
                <a:latin typeface="微软雅黑"/>
              </a:rPr>
              <a:t>患者画像与关键摘要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331720"/>
            <a:ext cx="777240" cy="777240"/>
          </a:xfrm>
          <a:prstGeom prst="round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31720"/>
            <a:ext cx="777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微软雅黑"/>
              </a:rPr>
              <a:t>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377439"/>
            <a:ext cx="9144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F2937"/>
                </a:solidFill>
                <a:latin typeface="微软雅黑"/>
              </a:rPr>
              <a:t>救治时间轴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278892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B7280"/>
                </a:solidFill>
                <a:latin typeface="微软雅黑"/>
              </a:rPr>
              <a:t>全流程关键时间节点与间隔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291839"/>
            <a:ext cx="777240" cy="77724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291839"/>
            <a:ext cx="777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微软雅黑"/>
              </a:rPr>
              <a:t>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3337559"/>
            <a:ext cx="9144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F2937"/>
                </a:solidFill>
                <a:latin typeface="微软雅黑"/>
              </a:rPr>
              <a:t>质控时间指标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3749039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B7280"/>
                </a:solidFill>
                <a:latin typeface="微软雅黑"/>
              </a:rPr>
              <a:t>核心再灌注时间达标分析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251959"/>
            <a:ext cx="777240" cy="777240"/>
          </a:xfrm>
          <a:prstGeom prst="round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251959"/>
            <a:ext cx="777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微软雅黑"/>
              </a:rPr>
              <a:t>四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4297679"/>
            <a:ext cx="9144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F2937"/>
                </a:solidFill>
                <a:latin typeface="微软雅黑"/>
              </a:rPr>
              <a:t>详细填报数据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4709159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B7280"/>
                </a:solidFill>
                <a:latin typeface="微软雅黑"/>
              </a:rPr>
              <a:t>各阶段表单填报明细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5212079"/>
            <a:ext cx="777240" cy="77724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5212079"/>
            <a:ext cx="777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微软雅黑"/>
              </a:rPr>
              <a:t>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5257799"/>
            <a:ext cx="9144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F2937"/>
                </a:solidFill>
                <a:latin typeface="微软雅黑"/>
              </a:rPr>
              <a:t>问题与改进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5669279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B7280"/>
                </a:solidFill>
                <a:latin typeface="微软雅黑"/>
              </a:rPr>
              <a:t>缺失项与流程优化建议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一  病例基本信息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6B7280"/>
                </a:solidFill>
                <a:latin typeface="微软雅黑"/>
              </a:rPr>
              <a:t>智慧胸痛中心 · 演示医院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371600"/>
          <a:ext cx="640080" cy="3840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320"/>
                <a:gridCol w="36576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项目</a:t>
                      </a:r>
                    </a:p>
                  </a:txBody>
                  <a:tcPr anchor="ctr" marT="18288" marB="18288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内容</a:t>
                      </a:r>
                    </a:p>
                  </a:txBody>
                  <a:tcPr anchor="ctr" marT="18288" marB="18288"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937"/>
                          </a:solidFill>
                          <a:latin typeface="微软雅黑"/>
                        </a:rPr>
                        <a:t>患者姓名</a:t>
                      </a:r>
                    </a:p>
                  </a:txBody>
                  <a:tcPr anchor="ctr" marT="18288" marB="18288" marL="54864" marR="54864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  <a:latin typeface="微软雅黑"/>
                        </a:rPr>
                        <a:t>王小明</a:t>
                      </a:r>
                    </a:p>
                  </a:txBody>
                  <a:tcPr anchor="ctr" marT="18288" marB="18288" marL="54864" marR="54864">
                    <a:solidFill>
                      <a:srgbClr val="F3F4F6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937"/>
                          </a:solidFill>
                          <a:latin typeface="微软雅黑"/>
                        </a:rPr>
                        <a:t>性别</a:t>
                      </a:r>
                    </a:p>
                  </a:txBody>
                  <a:tcPr anchor="ctr" marT="18288" marB="18288" marL="54864" marR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  <a:latin typeface="微软雅黑"/>
                        </a:rPr>
                        <a:t>男</a:t>
                      </a:r>
                    </a:p>
                  </a:txBody>
                  <a:tcPr anchor="ctr" marT="18288" marB="18288" marL="54864" marR="54864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937"/>
                          </a:solidFill>
                          <a:latin typeface="微软雅黑"/>
                        </a:rPr>
                        <a:t>年龄</a:t>
                      </a:r>
                    </a:p>
                  </a:txBody>
                  <a:tcPr anchor="ctr" marT="18288" marB="18288" marL="54864" marR="54864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  <a:latin typeface="微软雅黑"/>
                        </a:rPr>
                        <a:t>58 岁</a:t>
                      </a:r>
                    </a:p>
                  </a:txBody>
                  <a:tcPr anchor="ctr" marT="18288" marB="18288" marL="54864" marR="54864">
                    <a:solidFill>
                      <a:srgbClr val="F3F4F6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937"/>
                          </a:solidFill>
                          <a:latin typeface="微软雅黑"/>
                        </a:rPr>
                        <a:t>联系电话</a:t>
                      </a:r>
                    </a:p>
                  </a:txBody>
                  <a:tcPr anchor="ctr" marT="18288" marB="18288" marL="54864" marR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  <a:latin typeface="微软雅黑"/>
                        </a:rPr>
                        <a:t>13812345678</a:t>
                      </a:r>
                    </a:p>
                  </a:txBody>
                  <a:tcPr anchor="ctr" marT="18288" marB="18288" marL="54864" marR="54864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937"/>
                          </a:solidFill>
                          <a:latin typeface="微软雅黑"/>
                        </a:rPr>
                        <a:t>来院方式</a:t>
                      </a:r>
                    </a:p>
                  </a:txBody>
                  <a:tcPr anchor="ctr" marT="18288" marB="18288" marL="54864" marR="54864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  <a:latin typeface="微软雅黑"/>
                        </a:rPr>
                        <a:t>120</a:t>
                      </a:r>
                    </a:p>
                  </a:txBody>
                  <a:tcPr anchor="ctr" marT="18288" marB="18288" marL="54864" marR="54864">
                    <a:solidFill>
                      <a:srgbClr val="F3F4F6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937"/>
                          </a:solidFill>
                          <a:latin typeface="微软雅黑"/>
                        </a:rPr>
                        <a:t>诊断类型</a:t>
                      </a:r>
                    </a:p>
                  </a:txBody>
                  <a:tcPr anchor="ctr" marT="18288" marB="18288" marL="54864" marR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  <a:latin typeface="微软雅黑"/>
                        </a:rPr>
                        <a:t>STEMI</a:t>
                      </a:r>
                    </a:p>
                  </a:txBody>
                  <a:tcPr anchor="ctr" marT="18288" marB="18288" marL="54864" marR="54864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937"/>
                          </a:solidFill>
                          <a:latin typeface="微软雅黑"/>
                        </a:rPr>
                        <a:t>病例编号</a:t>
                      </a:r>
                    </a:p>
                  </a:txBody>
                  <a:tcPr anchor="ctr" marT="18288" marB="18288" marL="54864" marR="54864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  <a:latin typeface="微软雅黑"/>
                        </a:rPr>
                        <a:t>CASE202608240005</a:t>
                      </a:r>
                    </a:p>
                  </a:txBody>
                  <a:tcPr anchor="ctr" marT="18288" marB="18288" marL="54864" marR="54864">
                    <a:solidFill>
                      <a:srgbClr val="F3F4F6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937"/>
                          </a:solidFill>
                          <a:latin typeface="微软雅黑"/>
                        </a:rPr>
                        <a:t>病例状态</a:t>
                      </a:r>
                    </a:p>
                  </a:txBody>
                  <a:tcPr anchor="ctr" marT="18288" marB="18288" marL="54864" marR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  <a:latin typeface="微软雅黑"/>
                        </a:rPr>
                        <a:t>已通过</a:t>
                      </a:r>
                    </a:p>
                  </a:txBody>
                  <a:tcPr anchor="ctr" marT="18288" marB="18288" marL="54864" marR="54864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937"/>
                          </a:solidFill>
                          <a:latin typeface="微软雅黑"/>
                        </a:rPr>
                        <a:t>提交医生</a:t>
                      </a:r>
                    </a:p>
                  </a:txBody>
                  <a:tcPr anchor="ctr" marT="18288" marB="18288" marL="54864" marR="54864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  <a:latin typeface="微软雅黑"/>
                        </a:rPr>
                        <a:t>医生一号</a:t>
                      </a:r>
                    </a:p>
                  </a:txBody>
                  <a:tcPr anchor="ctr" marT="18288" marB="18288" marL="54864" marR="54864"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498079" y="1371600"/>
            <a:ext cx="4023360" cy="466344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26679" y="1481328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2563EB"/>
                </a:solidFill>
                <a:latin typeface="微软雅黑"/>
              </a:rPr>
              <a:t>关键摘要</a:t>
            </a:r>
          </a:p>
        </p:txBody>
      </p:sp>
      <p:sp>
        <p:nvSpPr>
          <p:cNvPr id="9" name="Rectangle 8"/>
          <p:cNvSpPr/>
          <p:nvPr/>
        </p:nvSpPr>
        <p:spPr>
          <a:xfrm>
            <a:off x="7726679" y="2103120"/>
            <a:ext cx="3566160" cy="18288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26679" y="2212848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1F2937"/>
                </a:solidFill>
                <a:latin typeface="微软雅黑"/>
              </a:rPr>
              <a:t>出院转归：-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1F2937"/>
                </a:solidFill>
                <a:latin typeface="微软雅黑"/>
              </a:rPr>
              <a:t>出院诊断：-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二  救治时间轴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6B7280"/>
                </a:solidFill>
                <a:latin typeface="微软雅黑"/>
              </a:rPr>
              <a:t>智慧胸痛中心 · 演示医院</a:t>
            </a:r>
          </a:p>
        </p:txBody>
      </p:sp>
      <p:sp>
        <p:nvSpPr>
          <p:cNvPr id="6" name="Rectangle 5"/>
          <p:cNvSpPr/>
          <p:nvPr/>
        </p:nvSpPr>
        <p:spPr>
          <a:xfrm>
            <a:off x="1220724" y="1417320"/>
            <a:ext cx="27432" cy="4517136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15568" y="1298448"/>
            <a:ext cx="237744" cy="237744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08760" y="1234440"/>
            <a:ext cx="4206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F2937"/>
                </a:solidFill>
                <a:latin typeface="微软雅黑"/>
              </a:rPr>
              <a:t>发病时间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0" y="1234440"/>
            <a:ext cx="3840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B7280"/>
                </a:solidFill>
                <a:latin typeface="微软雅黑"/>
              </a:rPr>
              <a:t>2026-08-20 08:30</a:t>
            </a:r>
          </a:p>
        </p:txBody>
      </p:sp>
      <p:sp>
        <p:nvSpPr>
          <p:cNvPr id="10" name="Oval 9"/>
          <p:cNvSpPr/>
          <p:nvPr/>
        </p:nvSpPr>
        <p:spPr>
          <a:xfrm>
            <a:off x="1115568" y="1773936"/>
            <a:ext cx="237744" cy="237744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08760" y="1709928"/>
            <a:ext cx="4206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F2937"/>
                </a:solidFill>
                <a:latin typeface="微软雅黑"/>
              </a:rPr>
              <a:t>呼救时间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0" y="1709928"/>
            <a:ext cx="3840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B7280"/>
                </a:solidFill>
                <a:latin typeface="微软雅黑"/>
              </a:rPr>
              <a:t>—</a:t>
            </a:r>
          </a:p>
        </p:txBody>
      </p:sp>
      <p:sp>
        <p:nvSpPr>
          <p:cNvPr id="13" name="Oval 12"/>
          <p:cNvSpPr/>
          <p:nvPr/>
        </p:nvSpPr>
        <p:spPr>
          <a:xfrm>
            <a:off x="1115568" y="2249424"/>
            <a:ext cx="237744" cy="237744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08760" y="2185415"/>
            <a:ext cx="4206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F2937"/>
                </a:solidFill>
                <a:latin typeface="微软雅黑"/>
              </a:rPr>
              <a:t>到达大门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0" y="2185415"/>
            <a:ext cx="3840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B7280"/>
                </a:solidFill>
                <a:latin typeface="微软雅黑"/>
              </a:rPr>
              <a:t>—</a:t>
            </a:r>
          </a:p>
        </p:txBody>
      </p:sp>
      <p:sp>
        <p:nvSpPr>
          <p:cNvPr id="16" name="Oval 15"/>
          <p:cNvSpPr/>
          <p:nvPr/>
        </p:nvSpPr>
        <p:spPr>
          <a:xfrm>
            <a:off x="1115568" y="2724912"/>
            <a:ext cx="237744" cy="237744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08760" y="2660904"/>
            <a:ext cx="4206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F2937"/>
                </a:solidFill>
                <a:latin typeface="微软雅黑"/>
              </a:rPr>
              <a:t>首次医疗接触 FMC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2660904"/>
            <a:ext cx="3840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B7280"/>
                </a:solidFill>
                <a:latin typeface="微软雅黑"/>
              </a:rPr>
              <a:t>—</a:t>
            </a:r>
          </a:p>
        </p:txBody>
      </p:sp>
      <p:sp>
        <p:nvSpPr>
          <p:cNvPr id="19" name="Oval 18"/>
          <p:cNvSpPr/>
          <p:nvPr/>
        </p:nvSpPr>
        <p:spPr>
          <a:xfrm>
            <a:off x="1115568" y="3200400"/>
            <a:ext cx="237744" cy="237744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08760" y="3136391"/>
            <a:ext cx="4206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F2937"/>
                </a:solidFill>
                <a:latin typeface="微软雅黑"/>
              </a:rPr>
              <a:t>首份心电图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0" y="3136391"/>
            <a:ext cx="3840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B7280"/>
                </a:solidFill>
                <a:latin typeface="微软雅黑"/>
              </a:rPr>
              <a:t>—</a:t>
            </a:r>
          </a:p>
        </p:txBody>
      </p:sp>
      <p:sp>
        <p:nvSpPr>
          <p:cNvPr id="22" name="Oval 21"/>
          <p:cNvSpPr/>
          <p:nvPr/>
        </p:nvSpPr>
        <p:spPr>
          <a:xfrm>
            <a:off x="1115568" y="3675888"/>
            <a:ext cx="237744" cy="237744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508760" y="3611880"/>
            <a:ext cx="4206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F2937"/>
                </a:solidFill>
                <a:latin typeface="微软雅黑"/>
              </a:rPr>
              <a:t>肌钙蛋白抽血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0" y="3611880"/>
            <a:ext cx="3840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B7280"/>
                </a:solidFill>
                <a:latin typeface="微软雅黑"/>
              </a:rPr>
              <a:t>—</a:t>
            </a:r>
          </a:p>
        </p:txBody>
      </p:sp>
      <p:sp>
        <p:nvSpPr>
          <p:cNvPr id="25" name="Oval 24"/>
          <p:cNvSpPr/>
          <p:nvPr/>
        </p:nvSpPr>
        <p:spPr>
          <a:xfrm>
            <a:off x="1115568" y="4151376"/>
            <a:ext cx="237744" cy="237744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508760" y="4087368"/>
            <a:ext cx="4206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F2937"/>
                </a:solidFill>
                <a:latin typeface="微软雅黑"/>
              </a:rPr>
              <a:t>导管室激活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0" y="4087368"/>
            <a:ext cx="3840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B7280"/>
                </a:solidFill>
                <a:latin typeface="微软雅黑"/>
              </a:rPr>
              <a:t>—</a:t>
            </a:r>
          </a:p>
        </p:txBody>
      </p:sp>
      <p:sp>
        <p:nvSpPr>
          <p:cNvPr id="28" name="Oval 27"/>
          <p:cNvSpPr/>
          <p:nvPr/>
        </p:nvSpPr>
        <p:spPr>
          <a:xfrm>
            <a:off x="1115568" y="4626864"/>
            <a:ext cx="237744" cy="237744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508760" y="4562856"/>
            <a:ext cx="4206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F2937"/>
                </a:solidFill>
                <a:latin typeface="微软雅黑"/>
              </a:rPr>
              <a:t>穿刺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0" y="4562856"/>
            <a:ext cx="3840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B7280"/>
                </a:solidFill>
                <a:latin typeface="微软雅黑"/>
              </a:rPr>
              <a:t>—</a:t>
            </a:r>
          </a:p>
        </p:txBody>
      </p:sp>
      <p:sp>
        <p:nvSpPr>
          <p:cNvPr id="31" name="Oval 30"/>
          <p:cNvSpPr/>
          <p:nvPr/>
        </p:nvSpPr>
        <p:spPr>
          <a:xfrm>
            <a:off x="1115568" y="5102352"/>
            <a:ext cx="237744" cy="237744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508760" y="5038344"/>
            <a:ext cx="4206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F2937"/>
                </a:solidFill>
                <a:latin typeface="微软雅黑"/>
              </a:rPr>
              <a:t>球囊开通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0" y="5038344"/>
            <a:ext cx="3840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B7280"/>
                </a:solidFill>
                <a:latin typeface="微软雅黑"/>
              </a:rPr>
              <a:t>—</a:t>
            </a:r>
          </a:p>
        </p:txBody>
      </p:sp>
      <p:sp>
        <p:nvSpPr>
          <p:cNvPr id="34" name="Oval 33"/>
          <p:cNvSpPr/>
          <p:nvPr/>
        </p:nvSpPr>
        <p:spPr>
          <a:xfrm>
            <a:off x="1115568" y="5577840"/>
            <a:ext cx="237744" cy="237744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508760" y="5513831"/>
            <a:ext cx="4206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F2937"/>
                </a:solidFill>
                <a:latin typeface="微软雅黑"/>
              </a:rPr>
              <a:t>手术结束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0" y="5513831"/>
            <a:ext cx="3840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B7280"/>
                </a:solidFill>
                <a:latin typeface="微软雅黑"/>
              </a:rPr>
              <a:t>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82880" y="598932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280"/>
                </a:solidFill>
                <a:latin typeface="微软雅黑"/>
              </a:rPr>
              <a:t>注：绿色圆点=已填报时间节点，灰色=缺失；Δ 为相邻节点间隔（分钟，绿≤30 / 蓝≤90 / 红&gt;90）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三  质控时间指标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6B7280"/>
                </a:solidFill>
                <a:latin typeface="微软雅黑"/>
              </a:rPr>
              <a:t>智慧胸痛中心 · 演示医院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371600"/>
          <a:ext cx="850392" cy="23042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4048"/>
                <a:gridCol w="164592"/>
                <a:gridCol w="164592"/>
                <a:gridCol w="13716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指标</a:t>
                      </a:r>
                    </a:p>
                  </a:txBody>
                  <a:tcPr anchor="ctr" marT="18288" marB="18288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耗时</a:t>
                      </a:r>
                    </a:p>
                  </a:txBody>
                  <a:tcPr anchor="ctr" marT="18288" marB="18288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标准</a:t>
                      </a:r>
                    </a:p>
                  </a:txBody>
                  <a:tcPr anchor="ctr" marT="18288" marB="18288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判定</a:t>
                      </a:r>
                    </a:p>
                  </a:txBody>
                  <a:tcPr anchor="ctr" marT="18288" marB="18288"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937"/>
                          </a:solidFill>
                          <a:latin typeface="微软雅黑"/>
                        </a:rPr>
                        <a:t>发病-首次医疗接触(S2FMC)</a:t>
                      </a:r>
                    </a:p>
                  </a:txBody>
                  <a:tcPr anchor="ctr" marT="18288" marB="18288" marL="54864" marR="54864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  <a:latin typeface="微软雅黑"/>
                        </a:rPr>
                        <a:t>无数据</a:t>
                      </a:r>
                    </a:p>
                  </a:txBody>
                  <a:tcPr anchor="ctr" marT="18288" marB="18288" marL="54864" marR="54864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  <a:latin typeface="微软雅黑"/>
                        </a:rPr>
                        <a:t>-</a:t>
                      </a:r>
                    </a:p>
                  </a:txBody>
                  <a:tcPr anchor="ctr" marT="18288" marB="18288" marL="54864" marR="54864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  <a:latin typeface="微软雅黑"/>
                        </a:rPr>
                        <a:t>无数据</a:t>
                      </a:r>
                    </a:p>
                  </a:txBody>
                  <a:tcPr anchor="ctr" marT="18288" marB="18288" marL="54864" marR="54864">
                    <a:solidFill>
                      <a:srgbClr val="6B7280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937"/>
                          </a:solidFill>
                          <a:latin typeface="微软雅黑"/>
                        </a:rPr>
                        <a:t>首次接触-首份心电图(FMC2ECG)</a:t>
                      </a:r>
                    </a:p>
                  </a:txBody>
                  <a:tcPr anchor="ctr" marT="18288" marB="18288" marL="54864" marR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  <a:latin typeface="微软雅黑"/>
                        </a:rPr>
                        <a:t>无数据</a:t>
                      </a:r>
                    </a:p>
                  </a:txBody>
                  <a:tcPr anchor="ctr" marT="18288" marB="18288" marL="54864" marR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  <a:latin typeface="微软雅黑"/>
                        </a:rPr>
                        <a:t>-</a:t>
                      </a:r>
                    </a:p>
                  </a:txBody>
                  <a:tcPr anchor="ctr" marT="18288" marB="18288" marL="54864" marR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  <a:latin typeface="微软雅黑"/>
                        </a:rPr>
                        <a:t>无数据</a:t>
                      </a:r>
                    </a:p>
                  </a:txBody>
                  <a:tcPr anchor="ctr" marT="18288" marB="18288" marL="54864" marR="54864">
                    <a:solidFill>
                      <a:srgbClr val="6B7280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937"/>
                          </a:solidFill>
                          <a:latin typeface="微软雅黑"/>
                        </a:rPr>
                        <a:t>入门-球囊开通(D2W)</a:t>
                      </a:r>
                    </a:p>
                  </a:txBody>
                  <a:tcPr anchor="ctr" marT="18288" marB="18288" marL="54864" marR="54864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  <a:latin typeface="微软雅黑"/>
                        </a:rPr>
                        <a:t>无数据</a:t>
                      </a:r>
                    </a:p>
                  </a:txBody>
                  <a:tcPr anchor="ctr" marT="18288" marB="18288" marL="54864" marR="54864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  <a:latin typeface="微软雅黑"/>
                        </a:rPr>
                        <a:t>-</a:t>
                      </a:r>
                    </a:p>
                  </a:txBody>
                  <a:tcPr anchor="ctr" marT="18288" marB="18288" marL="54864" marR="54864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  <a:latin typeface="微软雅黑"/>
                        </a:rPr>
                        <a:t>无数据</a:t>
                      </a:r>
                    </a:p>
                  </a:txBody>
                  <a:tcPr anchor="ctr" marT="18288" marB="18288" marL="54864" marR="54864">
                    <a:solidFill>
                      <a:srgbClr val="6B7280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937"/>
                          </a:solidFill>
                          <a:latin typeface="微软雅黑"/>
                        </a:rPr>
                        <a:t>首次接触-球囊开通(FMC2W)</a:t>
                      </a:r>
                    </a:p>
                  </a:txBody>
                  <a:tcPr anchor="ctr" marT="18288" marB="18288" marL="54864" marR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  <a:latin typeface="微软雅黑"/>
                        </a:rPr>
                        <a:t>无数据</a:t>
                      </a:r>
                    </a:p>
                  </a:txBody>
                  <a:tcPr anchor="ctr" marT="18288" marB="18288" marL="54864" marR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  <a:latin typeface="微软雅黑"/>
                        </a:rPr>
                        <a:t>-</a:t>
                      </a:r>
                    </a:p>
                  </a:txBody>
                  <a:tcPr anchor="ctr" marT="18288" marB="18288" marL="54864" marR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  <a:latin typeface="微软雅黑"/>
                        </a:rPr>
                        <a:t>无数据</a:t>
                      </a:r>
                    </a:p>
                  </a:txBody>
                  <a:tcPr anchor="ctr" marT="18288" marB="18288" marL="54864" marR="54864">
                    <a:solidFill>
                      <a:srgbClr val="6B7280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937"/>
                          </a:solidFill>
                          <a:latin typeface="微软雅黑"/>
                        </a:rPr>
                        <a:t>入门-肌钙蛋白(D2N)</a:t>
                      </a:r>
                    </a:p>
                  </a:txBody>
                  <a:tcPr anchor="ctr" marT="18288" marB="18288" marL="54864" marR="54864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  <a:latin typeface="微软雅黑"/>
                        </a:rPr>
                        <a:t>无数据</a:t>
                      </a:r>
                    </a:p>
                  </a:txBody>
                  <a:tcPr anchor="ctr" marT="18288" marB="18288" marL="54864" marR="54864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  <a:latin typeface="微软雅黑"/>
                        </a:rPr>
                        <a:t>-</a:t>
                      </a:r>
                    </a:p>
                  </a:txBody>
                  <a:tcPr anchor="ctr" marT="18288" marB="18288" marL="54864" marR="54864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  <a:latin typeface="微软雅黑"/>
                        </a:rPr>
                        <a:t>无数据</a:t>
                      </a:r>
                    </a:p>
                  </a:txBody>
                  <a:tcPr anchor="ctr" marT="18288" marB="18288" marL="54864" marR="54864">
                    <a:solidFill>
                      <a:srgbClr val="6B7280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5486400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B7280"/>
                </a:solidFill>
                <a:latin typeface="微软雅黑"/>
              </a:rPr>
              <a:t>核心指标达标率：0/0　｜　标准：FMC2ECG ≤10min ｜ D2W ≤90min ｜ FMC2W ≤120min ｜ D2N ≤20min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五  问题与改进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6B7280"/>
                </a:solidFill>
                <a:latin typeface="微软雅黑"/>
              </a:rPr>
              <a:t>智慧胸痛中心 · 演示医院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2588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F2937"/>
                </a:solidFill>
                <a:latin typeface="微软雅黑"/>
              </a:rPr>
              <a:t>一、缺失必填字段（1 项）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1280160" cy="457200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9144" bIns="9144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患者姓名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9748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F2937"/>
                </a:solidFill>
                <a:latin typeface="微软雅黑"/>
              </a:rPr>
              <a:t>二、流程优化建议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20040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59669"/>
                </a:solidFill>
                <a:latin typeface="微软雅黑"/>
              </a:rPr>
              <a:t>✅ 各项时间指标均达标，建议作为典型病例在讨论会中分享经验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7150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B7280"/>
                </a:solidFill>
                <a:latin typeface="微软雅黑"/>
              </a:rPr>
              <a:t>讨论要点：再灌注策略选择 · 时间节点管理 · 双抗/抗凝/他汀规范化 · 出院随访依从性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74320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FFFFFF"/>
                </a:solidFill>
                <a:latin typeface="微软雅黑"/>
              </a:rPr>
              <a:t>持续改进 · 服务患者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840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BFD3F2"/>
                </a:solidFill>
                <a:latin typeface="微软雅黑"/>
              </a:rPr>
              <a:t>智慧胸痛中心 · 演示医院 · 2026年08月24日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